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A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2A28"/>
                </a:solidFill>
                <a:latin typeface="Arial"/>
              </a:rPr>
              <a:t>Golden set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examples</c:v>
                </c:pt>
              </c:strCache>
            </c:strRef>
          </c:tx>
          <c:spPr>
            <a:solidFill>
              <a:srgbClr val="138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A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evidence</c:v>
                  </c:pt>
                  <c:pt idx="1">
                    <c:v>data</c:v>
                  </c:pt>
                  <c:pt idx="2">
                    <c:v>red flag</c:v>
                  </c:pt>
                  <c:pt idx="3">
                    <c:v>near miss</c:v>
                  </c:pt>
                  <c:pt idx="4">
                    <c:v>injection</c:v>
                  </c:pt>
                  <c:pt idx="5">
                    <c:v>off topic</c:v>
                  </c:pt>
                  <c:pt idx="6">
                    <c:v>smalltalk</c:v>
                  </c:pt>
                  <c:pt idx="7">
                    <c:v>goal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9</c:v>
                </c:pt>
                <c:pt idx="2">
                  <c:v>8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A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A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citation precision %</c:v>
                </c:pt>
              </c:strCache>
            </c:strRef>
          </c:tx>
          <c:spPr>
            <a:solidFill>
              <a:srgbClr val="7C9A8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A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9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9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6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9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9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9A8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38A7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Baseline (judge v1)</c:v>
                  </c:pt>
                  <c:pt idx="1">
                    <c:v>gpt-4.1-mini writer</c:v>
                  </c:pt>
                  <c:pt idx="2">
                    <c:v>No reranker</c:v>
                  </c:pt>
                  <c:pt idx="3">
                    <c:v>Single query</c:v>
                  </c:pt>
                  <c:pt idx="4">
                    <c:v>Prompt v1</c:v>
                  </c:pt>
                  <c:pt idx="5">
                    <c:v>No citation loop</c:v>
                  </c:pt>
                  <c:pt idx="6">
                    <c:v>Final (judge v2, mean of 3)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</c:v>
                </c:pt>
                <c:pt idx="1">
                  <c:v>74</c:v>
                </c:pt>
                <c:pt idx="2">
                  <c:v>70</c:v>
                </c:pt>
                <c:pt idx="3">
                  <c:v>80</c:v>
                </c:pt>
                <c:pt idx="4">
                  <c:v>73</c:v>
                </c:pt>
                <c:pt idx="5">
                  <c:v>73</c:v>
                </c:pt>
                <c:pt idx="6">
                  <c:v>94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A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A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Bloom brings my scale, gym, watch and food data into one place and adds a coach that answers from my data and from research it can cite, and knows when to send me to a doctor.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Pain: 5 apps, manual screenshots and spreadsheets, and advice that isn't graded for evidence or adapted to female 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value: a personal tool first; later the same product for women with PCOS who train (irregular cycles break every 'cycle syncing'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 (3 min): Today dashboard → Integrative Medicine: fasted cardio question, open a citation chip → Coach: body-fat goal, approve → Goals page → 'I fainted…' → Data page: Foodvisor screenshot. Show 'How I got here' under an answer and the matching LangSmith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request: SSE chat → input guard → triage (mini) → Skill → cache → MCP tools → multi-query retrieval + rerank → gpt-4.1 → per-claim citation check (loop) → output guard → final/interrupt.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Decisions: keep gpt-4.1 as writer (mini is -0.04 precision at half the cost → it's the fallback). Keep the reranker (largest drop without it). Keep multi-query (fixes compound questions). Adopt the per-claim judge (+0.15). T=0.3 kept; hyperparameters matter less than architecture. Caveat: n=14–23 per metric, one example ≈ 0.05.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6686" y="1234440"/>
            <a:ext cx="502920" cy="502920"/>
          </a:xfrm>
          <a:prstGeom prst="ellipse">
            <a:avLst/>
          </a:prstGeom>
          <a:solidFill>
            <a:srgbClr val="D8A7A0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636776"/>
            <a:ext cx="502920" cy="502920"/>
          </a:xfrm>
          <a:prstGeom prst="ellipse">
            <a:avLst/>
          </a:prstGeom>
          <a:solidFill>
            <a:srgbClr val="7C9A82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" y="1636776"/>
            <a:ext cx="502920" cy="502920"/>
          </a:xfrm>
          <a:prstGeom prst="ellipse">
            <a:avLst/>
          </a:prstGeom>
          <a:solidFill>
            <a:srgbClr val="E3C9A0">
              <a:alpha val="9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3C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cycle-aware, evidence-based health coach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my health data in one place · an AI coach that knows my data, my cycle and the research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LLM Engineering · Demo Day, 25 September 2026 · Damilya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apps, 0 answers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health data is scattered, and the advice I get is generic and male-default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274320" cy="274320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84708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Withings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body fat, muscle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21408" y="13716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58568" y="1508760"/>
            <a:ext cx="274320" cy="274320"/>
          </a:xfrm>
          <a:prstGeom prst="ellipse">
            <a:avLst/>
          </a:prstGeom>
          <a:solidFill>
            <a:srgbClr val="D86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58568" y="184708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Kinetix · Tanita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sessions, 1RM tests, scans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5616" y="13716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1508760"/>
            <a:ext cx="274320" cy="274320"/>
          </a:xfrm>
          <a:prstGeom prst="ellipse">
            <a:avLst/>
          </a:prstGeom>
          <a:solidFill>
            <a:srgbClr val="8A5FB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22776" y="184708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workouts, cycle, sleep, HR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9824" y="13716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508760"/>
            <a:ext cx="274320" cy="274320"/>
          </a:xfrm>
          <a:prstGeom prst="ellipse">
            <a:avLst/>
          </a:prstGeom>
          <a:solidFill>
            <a:srgbClr val="C47A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86984" y="184708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Foodvisor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&amp; macros (no API)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4032" y="1371600"/>
            <a:ext cx="151790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51192" y="1508760"/>
            <a:ext cx="274320" cy="274320"/>
          </a:xfrm>
          <a:prstGeom prst="ellipse">
            <a:avLst/>
          </a:prstGeom>
          <a:solidFill>
            <a:srgbClr val="7C9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51192" y="184708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run outside?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talk to each other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trends live in one app, training in two others, food in a fourth. No app sees the menstrual cycle next to training and nutrition, so no one can say whether a bad week is the cycle, sleep or under-eating.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30175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ignores women and PCOS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“Train fasted in the morning to burn fat”, “sync your training to your cycle”: popular claims, often from male-only studies or weak evidence. With PCOS, wrong advice (under-fuelling, crash diets) has real costs.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one real user first: 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FBF5EA"/>
          </a:solidFill>
          <a:ln w="9525">
            <a:solidFill>
              <a:srgbClr val="FBF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woman with PCOS who strength-trains and runs in Brussels, and wants advice that fits her body, her data and the evidence.”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6F6A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24912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spreadsheets and 5 app dashboards; mental math to connect them.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4408" y="2788920"/>
            <a:ext cx="384048" cy="384048"/>
          </a:xfrm>
          <a:prstGeom prst="ellipse">
            <a:avLst/>
          </a:prstGeom>
          <a:solidFill>
            <a:srgbClr val="C47A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6440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724912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that isn't evidence-graded, ignores the cycle, and never says “see a doctor”.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71616" y="2788920"/>
            <a:ext cx="384048" cy="384048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71616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2724912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timeline + a coach that cites research, uses my numbers and escalates red flags.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one calm dashboard + a coach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· three personas: Fitness Coach, Nutritionist, Integrative Medicine</a:t>
            </a:r>
            <a:endParaRPr lang="en-US" sz="1400" dirty="0"/>
          </a:p>
        </p:txBody>
      </p:sp>
      <p:pic>
        <p:nvPicPr>
          <p:cNvPr id="4" name="Image 0" descr="/Users/damilya/Projects/n17_LLM/Projects/final-project/docs/deck/img/to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25880"/>
            <a:ext cx="4526280" cy="2734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60520" y="1325880"/>
            <a:ext cx="4526280" cy="2734056"/>
          </a:xfrm>
          <a:prstGeom prst="rect">
            <a:avLst/>
          </a:prstGeom>
          <a:ln w="9525">
            <a:solidFill>
              <a:srgbClr val="E6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417320"/>
            <a:ext cx="256032" cy="256032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1371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timeline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Withings, Tanita, Apple Watch, Kinetix and Foodvisor on one chart, shaded by cycle phase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130552"/>
            <a:ext cx="256032" cy="256032"/>
          </a:xfrm>
          <a:prstGeom prst="ellipse">
            <a:avLst/>
          </a:prstGeom>
          <a:solidFill>
            <a:srgbClr val="D86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" y="20848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research claim links to the passage, page and DOI it came from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2843784"/>
            <a:ext cx="256032" cy="256032"/>
          </a:xfrm>
          <a:prstGeom prst="ellipse">
            <a:avLst/>
          </a:prstGeom>
          <a:solidFill>
            <a:srgbClr val="C47A5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248" y="27980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symptoms → doctor referral, never coaching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557016"/>
            <a:ext cx="256032" cy="256032"/>
          </a:xfrm>
          <a:prstGeom prst="ellipse">
            <a:avLst/>
          </a:prstGeom>
          <a:solidFill>
            <a:srgbClr val="8A5FB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" y="351129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you approve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proposes, you approve or edit before anything is saved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411480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demo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walkthrough: the same three flows as below</a:t>
            </a:r>
            <a:endParaRPr lang="en-US" sz="1400" dirty="0"/>
          </a:p>
        </p:txBody>
      </p:sp>
      <p:pic>
        <p:nvPicPr>
          <p:cNvPr id="4" name="Image 0" descr="/Users/damilya/Projects/n17_LLM/Projects/final-project/docs/deck/img/coach_ans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606040" cy="2871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2606040" cy="2871216"/>
          </a:xfrm>
          <a:prstGeom prst="rect">
            <a:avLst/>
          </a:prstGeom>
          <a:ln w="9525">
            <a:solidFill>
              <a:srgbClr val="E6E1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Cited, evidence-graded answer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I avoid fasted morning workouts with PCOS?”</a:t>
            </a:r>
            <a:endParaRPr lang="en-US" sz="1200" dirty="0"/>
          </a:p>
        </p:txBody>
      </p:sp>
      <p:pic>
        <p:nvPicPr>
          <p:cNvPr id="7" name="Image 1" descr="/Users/damilya/Projects/n17_LLM/Projects/final-project/docs/deck/img/coach_go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80160"/>
            <a:ext cx="2697480" cy="1399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46120" y="1280160"/>
            <a:ext cx="2697480" cy="1399032"/>
          </a:xfrm>
          <a:prstGeom prst="rect">
            <a:avLst/>
          </a:prstGeom>
          <a:ln w="9525">
            <a:solidFill>
              <a:srgbClr val="E6E1D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246120" y="27523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Goal proposal, human approval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 me a realistic body-fat goal for December”</a:t>
            </a:r>
            <a:endParaRPr lang="en-US" sz="1200" dirty="0"/>
          </a:p>
        </p:txBody>
      </p:sp>
      <p:pic>
        <p:nvPicPr>
          <p:cNvPr id="10" name="Image 2" descr="/Users/damilya/Projects/n17_LLM/Projects/final-project/docs/deck/img/coach_docto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2560320" cy="138988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26480" y="1280160"/>
            <a:ext cx="2560320" cy="1389888"/>
          </a:xfrm>
          <a:prstGeom prst="rect">
            <a:avLst/>
          </a:prstGeom>
          <a:ln w="9525">
            <a:solidFill>
              <a:srgbClr val="E6E1D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12648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Red flag → doctor referral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fainted after my workout this morning…”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246120" y="34290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383280" y="352044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demo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page: Withings OAuth sync · Apple Health ZIP · Mywellness ZIP · Foodvisor screenshot → vision extraction with consistency checks → confirm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is replaceable by config; the data layer is deliberately shared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BF5EA"/>
          </a:solidFill>
          <a:ln w="9525">
            <a:solidFill>
              <a:srgbClr val="FBF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600200" cy="1783080"/>
          </a:xfrm>
          <a:prstGeom prst="roundRect">
            <a:avLst>
              <a:gd name="adj" fmla="val 6857"/>
            </a:avLst>
          </a:prstGeom>
          <a:solidFill>
            <a:srgbClr val="FBF5EA"/>
          </a:solidFill>
          <a:ln w="9525">
            <a:solidFill>
              <a:srgbClr val="FB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160020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Withings OAuth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Health ZIP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Mywellness ZIP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Foodvisor screenshot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14884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148840"/>
            <a:ext cx="19202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nodes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· triage · Skill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· 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loop · HITL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3258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325880"/>
            <a:ext cx="17373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health-data MCP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tools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233172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317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Qdrant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FlashRank rerank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32004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/ 4.1-mini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fallback, budget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32588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F2F0EC"/>
          </a:solidFill>
          <a:ln w="9525">
            <a:solidFill>
              <a:srgbClr val="F2F0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1325880"/>
            <a:ext cx="1371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233172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2F0EC"/>
          </a:solidFill>
          <a:ln w="9525">
            <a:solidFill>
              <a:srgbClr val="F2F0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331720"/>
            <a:ext cx="13716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(PMC)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32004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2F0EC"/>
          </a:solidFill>
          <a:ln w="9525">
            <a:solidFill>
              <a:srgbClr val="F2F0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· evals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57400" y="1572768"/>
            <a:ext cx="59436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1828800"/>
            <a:ext cx="914" cy="320040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4572000" y="1737360"/>
            <a:ext cx="548640" cy="914400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4572000" y="2670048"/>
            <a:ext cx="548640" cy="73152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0" y="3291840"/>
            <a:ext cx="548640" cy="274320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58000" y="1737360"/>
            <a:ext cx="45720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58000" y="2670048"/>
            <a:ext cx="45720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057400" y="3017520"/>
            <a:ext cx="59436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58000" y="3566160"/>
            <a:ext cx="45720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by choice: the dashboard and the MCP tools call the same queries.py, so the coach quotes exactly the numbers on the charts. Claude Desktop/Code can use the same MCP server.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agent: branches, a loop and a human in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· checkpointed so an approval can resume in a later HTTP request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98448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389888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9888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31136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22576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22576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router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55264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55264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96512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87952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87952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61888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53328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94576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86016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86016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27264" y="1700784"/>
            <a:ext cx="91440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18704" y="1417320"/>
            <a:ext cx="841248" cy="566928"/>
          </a:xfrm>
          <a:prstGeom prst="roundRect">
            <a:avLst>
              <a:gd name="adj" fmla="val 19355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18704" y="1417320"/>
            <a:ext cx="841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2860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9ECE5"/>
          </a:solidFill>
          <a:ln w="9525">
            <a:solidFill>
              <a:srgbClr val="F9EC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safety triage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(chest pain, fainting, no period &gt; 3 months, eating &lt; 1,000 kcal, medication changes) → doctor referral with 112 for emergencies. Off-topic → polite decline.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246120" y="22860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8328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citation verification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cited sentence is checked against its passage; unsupported → targeted feedback → rewrite (max 2), then a visible “unverified” note.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035040" y="22860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BF5EA"/>
          </a:solidFill>
          <a:ln w="9525">
            <a:solidFill>
              <a:srgbClr val="FBF5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7220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requests → structured SMART goal → interrupt() → Approve / Edit / Not now → saved through the MCP save_goal tool.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LangGraph: explicit, testable control flow (bounded loop + durable interrupt), tested with fake LLMs. CrewAI hides the flow behind roles; Parlant is policy-centric rather than pipeline-centric.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MCP server + own Skill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functions and a longer prompt?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health-data MCP server · 9 tools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body-composition trend · latest metrics · strength progress (1RM) · cycle status · nutrition summary · workouts · weather · goals · save goal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MCP: </a:t>
            </a:r>
            <a:pPr indent="0" marL="0">
              <a:buNone/>
            </a:pPr>
            <a:r>
              <a:rPr lang="en-US" sz="11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tools serve the in-app agent and Claude Desktop/Code with zero glue; the tool schema is the contract the planner LLM reads. If the server is down the agent falls back to in-process tools.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womens-health-evidence Skill (SKILL.md)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grading (Strong / Moderate / Limited / Expert opinion), cycle and PCOS nuances, fasted-training honesty, red flags, citation rules.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Skill: </a:t>
            </a:r>
            <a:pPr indent="0" marL="0">
              <a:buNone/>
            </a:pPr>
            <a:r>
              <a:rPr lang="en-US" sz="11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domain policy in one file, loaded only when the question triggers it (keywords + triage flag), so ~1.5k tokens aren't paid on unrelated questions. Works in Claude Code too.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over research + vision for food logs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only as good as what's retrieved, and what's read from a screenshot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389888"/>
            <a:ext cx="1133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papers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guideline 2023, ISSN, WHO, meta-analyses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920240"/>
            <a:ext cx="118872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56232" y="132588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9384" y="1389888"/>
            <a:ext cx="1133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glyph-gap fix + JATS XML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36392" y="1920240"/>
            <a:ext cx="118872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55264" y="132588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28416" y="1389888"/>
            <a:ext cx="1133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 chunks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section-aware, 450 tok, page kept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35424" y="1920240"/>
            <a:ext cx="118872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54296" y="132588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7448" y="1389888"/>
            <a:ext cx="1133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Qdrant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34456" y="1920240"/>
            <a:ext cx="118872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53328" y="132588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389888"/>
            <a:ext cx="1133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writes 1–3 sub-queries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33488" y="1920240"/>
            <a:ext cx="118872" cy="914"/>
          </a:xfrm>
          <a:prstGeom prst="line">
            <a:avLst/>
          </a:prstGeom>
          <a:noFill/>
          <a:ln w="15875">
            <a:solidFill>
              <a:srgbClr val="6F6A6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132588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EEF3EF"/>
          </a:solidFill>
          <a:ln w="9525">
            <a:solidFill>
              <a:srgbClr val="EEF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25512" y="1389888"/>
            <a:ext cx="1133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FlashRank per query → top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4023360" cy="1874520"/>
          </a:xfrm>
          <a:prstGeom prst="roundRect">
            <a:avLst>
              <a:gd name="adj" fmla="val 5854"/>
            </a:avLst>
          </a:prstGeom>
          <a:solidFill>
            <a:srgbClr val="FBF5EA"/>
          </a:solidFill>
          <a:ln w="9525">
            <a:solidFill>
              <a:srgbClr val="FBF5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8346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measuring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12 PDFs lost their spaces (15–43 % glued words) → rebuilt words from glyph positions. Compound questions (“fasted cardio + women + PCOS”) retrieved only PCOS papers → multi-query with per-facet round-robin.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4023360" cy="1874520"/>
          </a:xfrm>
          <a:prstGeom prst="roundRect">
            <a:avLst>
              <a:gd name="adj" fmla="val 5854"/>
            </a:avLst>
          </a:prstGeom>
          <a:solidFill>
            <a:srgbClr val="FBF0EE"/>
          </a:solidFill>
          <a:ln w="9525">
            <a:solidFill>
              <a:srgbClr val="FBF0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8346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Foodvisor has no API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is the only data channel → vision model with a strict schema → Atwater check (kcal ≈ 4C + 4P + 9F) → user confirms. Caught a real misread: “122 Cal over” (vs goal) read as intake; now computed from macros (1,589 kcal).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43 golden examples, 7 metrics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groundedness and personal accuracy: the three ways a health coach fails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9319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route_correct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flags, near-misses, injections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retrieval_hit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paper in top-5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numeric_accuracy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personal number in answer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goal_proposed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reached (or correctly not)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supported by evidence/data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citation_precision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judge · 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 passage supports its sentence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key_point_recall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what the literature says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754880" y="4114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latency p50/p95, cost/query, rewrite rate · evals run on a seeded demo DB, cache off · A/B arms = config options, no code changes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experiments decided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 by configuration (LLM judge: gpt-4.1) · single runs unless noted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40680" y="1234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40680" y="1783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routing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 flags, injections)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2377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6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 → 94%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2926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 (mean of 3 runs;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run-to-run noise ≈ ±5 pts)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3520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5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$0.0088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4069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cost per query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 flags ≈ $0.0003)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broke on real data, and what I learned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passed every test; my own exports didn't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69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35608"/>
            <a:ext cx="237744" cy="23774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37160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Health stamped everything +05:00 (the phone's zone at export) → workouts 4 h off, dedupe failed. Now one HOME_TZ for all sources.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280160"/>
            <a:ext cx="4069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435608"/>
            <a:ext cx="237744" cy="237744"/>
          </a:xfrm>
          <a:prstGeom prst="ellipse">
            <a:avLst/>
          </a:prstGeom>
          <a:solidFill>
            <a:srgbClr val="D86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640" y="137160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3 apps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Mywellness mirrors the Watch (66 walks) and Withings (220 readings); the Watch re-records gym visits (55). Cross-source dedupe after every import.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69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551176"/>
            <a:ext cx="237744" cy="237744"/>
          </a:xfrm>
          <a:prstGeom prst="ellipse">
            <a:avLst/>
          </a:prstGeom>
          <a:solidFill>
            <a:srgbClr val="8A5FB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487168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drift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iOS writes VaginalBleeding* instead of MenstrualFlow*: 0 of 202 cycle records imported until fixed.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2395728"/>
            <a:ext cx="4069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551176"/>
            <a:ext cx="237744" cy="237744"/>
          </a:xfrm>
          <a:prstGeom prst="ellipse">
            <a:avLst/>
          </a:prstGeom>
          <a:solidFill>
            <a:srgbClr val="C47A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0640" y="2487168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Lenient self-check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in-graph citation judge passed 95 % of answers; the offline eval found 22 % unsupported citations → per-claim judge.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4069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666744"/>
            <a:ext cx="237744" cy="237744"/>
          </a:xfrm>
          <a:prstGeom prst="ellipse">
            <a:avLst/>
          </a:prstGeom>
          <a:solidFill>
            <a:srgbClr val="7C9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602736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Over-eager goals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should I adjust training this week?” triggered goal approval → stricter triage + a negative golden example.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17720" y="3511296"/>
            <a:ext cx="4069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666744"/>
            <a:ext cx="237744" cy="237744"/>
          </a:xfrm>
          <a:prstGeom prst="ellipse">
            <a:avLst/>
          </a:prstGeom>
          <a:solidFill>
            <a:srgbClr val="D8A7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20640" y="3602736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≠ popular belief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“Fasted training is bad for women” is not settled in the literature; the Skill makes the coach say so.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6350" y="365760"/>
            <a:ext cx="347472" cy="347472"/>
          </a:xfrm>
          <a:prstGeom prst="ellipse">
            <a:avLst/>
          </a:prstGeom>
          <a:solidFill>
            <a:srgbClr val="D8A7A0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643738"/>
            <a:ext cx="347472" cy="347472"/>
          </a:xfrm>
          <a:prstGeom prst="ellipse">
            <a:avLst/>
          </a:prstGeom>
          <a:solidFill>
            <a:srgbClr val="7C9A82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17459" y="643738"/>
            <a:ext cx="347472" cy="347472"/>
          </a:xfrm>
          <a:prstGeom prst="ellipse">
            <a:avLst/>
          </a:prstGeom>
          <a:solidFill>
            <a:srgbClr val="E3C9A0">
              <a:alpha val="9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2B3A32"/>
          </a:solidFill>
          <a:ln w="9525">
            <a:solidFill>
              <a:srgbClr val="2B3A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3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routing 100 % on the golden set · cited, evidence-graded answers · real data from 4 sources in one timeline · goals only with approval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64408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2B3A32"/>
          </a:solidFill>
          <a:ln w="9525">
            <a:solidFill>
              <a:srgbClr val="2B3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3258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3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I chose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 latency (citation loop, gpt-4.1 writer) · calendar-based cycle phases flagged low-confidence instead of guessing · local SQLite for privacy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71616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2B3A32"/>
          </a:solidFill>
          <a:ln w="9525">
            <a:solidFill>
              <a:srgbClr val="2B3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3258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3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red-flag cases (indirect, multilingual) · real users with PCOS · wearable temperature/LH for ovulation · auth + deployment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Bloom — cycle-aware, evidence-based health coach</dc:title>
  <dc:subject>PptxGenJS Presentation</dc:subject>
  <dc:creator>Damilya</dc:creator>
  <cp:lastModifiedBy>Damilya</cp:lastModifiedBy>
  <cp:revision>1</cp:revision>
  <dcterms:created xsi:type="dcterms:W3CDTF">2026-09-25T15:26:54Z</dcterms:created>
  <dcterms:modified xsi:type="dcterms:W3CDTF">2026-09-25T15:26:54Z</dcterms:modified>
</cp:coreProperties>
</file>