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Bloom brings my scale, gym, watch and food data into one place and adds a coach that answers from my data and from research it can cite, and knows when to send me to a doctor.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Pain: 5 apps, manual screenshots and spreadsheets, and advice that isn't graded for evidence or adapted to female physiology.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value: a personal tool first; later the same product for women with PCOS who train (irregular cycles break every 'cycle syncing' app).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order (3 min): Today dashboard → Integrative Medicine: fasted cardio question, open a citation chip → Coach: body-fat goal, approve → Goals page → 'I fainted…' → Data page: Foodvisor screenshot. Show 'How I got here' under an answer and the matching LangSmith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one request: SSE chat → input guard → triage (mini) → Skill → cache → MCP tools → multi-query retrieval + rerank → gpt-4.1 → per-claim citation check (loop) → output guard → final/interrupt.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Decisions: keep gpt-4.1 as writer (mini is -0.04 precision at half the cost → it's the fallback). Keep the reranker (largest drop without it). Keep multi-query (fixes compound questions). Adopt the per-claim judge (+0.15). T=0.3 kept; hyperparameters matter less than architecture. Caveat: n=14–23 per metric, one example ≈ 0.05.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at the defense: open the bloom-production project, click the latest trace from the demo question, expand citation_check, then show the bloom-final experiment.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6686" y="1234440"/>
            <a:ext cx="502920" cy="502920"/>
          </a:xfrm>
          <a:prstGeom prst="ellipse">
            <a:avLst/>
          </a:prstGeom>
          <a:solidFill>
            <a:srgbClr val="D8A7A0">
              <a:alpha val="9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636776"/>
            <a:ext cx="502920" cy="502920"/>
          </a:xfrm>
          <a:prstGeom prst="ellipse">
            <a:avLst/>
          </a:prstGeom>
          <a:solidFill>
            <a:srgbClr val="7C9A82">
              <a:alpha val="9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93292" y="1636776"/>
            <a:ext cx="502920" cy="502920"/>
          </a:xfrm>
          <a:prstGeom prst="ellipse">
            <a:avLst/>
          </a:prstGeom>
          <a:solidFill>
            <a:srgbClr val="E3C9A0">
              <a:alpha val="9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2240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17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3C9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cycle-aware, evidence-based health coach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520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my health data in one place · an AI coach that knows my data, my cycle and the research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· LLM Engineering · Demo Day, 25 September 2026 · Damilya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apps, 0 answers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health data is scattered, and the advice I get is generic and male-default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517904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08760"/>
            <a:ext cx="274320" cy="274320"/>
          </a:xfrm>
          <a:prstGeom prst="ellipse">
            <a:avLst/>
          </a:prstGeom>
          <a:solidFill>
            <a:srgbClr val="138A7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84708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Withings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weight, body fat, muscle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21408" y="1371600"/>
            <a:ext cx="1517904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58568" y="1508760"/>
            <a:ext cx="274320" cy="274320"/>
          </a:xfrm>
          <a:prstGeom prst="ellipse">
            <a:avLst/>
          </a:prstGeom>
          <a:solidFill>
            <a:srgbClr val="D86A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58568" y="184708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Kinetix · Tanita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 sessions, 1RM tests, scans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85616" y="1371600"/>
            <a:ext cx="1517904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22776" y="1508760"/>
            <a:ext cx="274320" cy="274320"/>
          </a:xfrm>
          <a:prstGeom prst="ellipse">
            <a:avLst/>
          </a:prstGeom>
          <a:solidFill>
            <a:srgbClr val="8A5FB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922776" y="184708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Watch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workouts, cycle, sleep, HR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49824" y="1371600"/>
            <a:ext cx="1517904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86984" y="1508760"/>
            <a:ext cx="274320" cy="274320"/>
          </a:xfrm>
          <a:prstGeom prst="ellipse">
            <a:avLst/>
          </a:prstGeom>
          <a:solidFill>
            <a:srgbClr val="C47A5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86984" y="184708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Foodvisor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calories &amp; macros (no API)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14032" y="1371600"/>
            <a:ext cx="1517904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1192" y="1508760"/>
            <a:ext cx="274320" cy="274320"/>
          </a:xfrm>
          <a:prstGeom prst="ellipse">
            <a:avLst/>
          </a:prstGeom>
          <a:solidFill>
            <a:srgbClr val="7C9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51192" y="184708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run outside?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4023360" cy="1691640"/>
          </a:xfrm>
          <a:prstGeom prst="roundRect">
            <a:avLst>
              <a:gd name="adj" fmla="val 6486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01752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talk to each other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trends live in one app, training in two others, food in a fourth. No app sees the menstrual cycle next to training and nutrition, so no one can say whether a bad week is the cycle, sleep or under-eating.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663440" y="2926080"/>
            <a:ext cx="4023360" cy="1691640"/>
          </a:xfrm>
          <a:prstGeom prst="roundRect">
            <a:avLst>
              <a:gd name="adj" fmla="val 6486"/>
            </a:avLst>
          </a:prstGeom>
          <a:solidFill>
            <a:srgbClr val="FBF0EE"/>
          </a:solidFill>
          <a:ln w="9525">
            <a:solidFill>
              <a:srgbClr val="FBF0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301752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4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Advice ignores women and PCOS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“Train fasted in the morning to burn fat”, “sync your training to your cycle”: popular claims, often from male-only studies or weak evidence. With PCOS, wrong advice (under-fuelling, crash diets) has real costs.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it's for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one real user first: me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143000"/>
          </a:xfrm>
          <a:prstGeom prst="roundRect">
            <a:avLst>
              <a:gd name="adj" fmla="val 9600"/>
            </a:avLst>
          </a:prstGeom>
          <a:solidFill>
            <a:srgbClr val="FBF5EA"/>
          </a:solidFill>
          <a:ln w="9525">
            <a:solidFill>
              <a:srgbClr val="FBF5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woman with PCOS who strength-trains and runs in Brussels, and wants advice that fits her body, her data and the evidence.”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384048" cy="384048"/>
          </a:xfrm>
          <a:prstGeom prst="ellipse">
            <a:avLst/>
          </a:prstGeom>
          <a:solidFill>
            <a:srgbClr val="6F6A6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724912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Screenshots, spreadsheets and 5 app dashboards; mental math to connect them.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64408" y="2788920"/>
            <a:ext cx="384048" cy="384048"/>
          </a:xfrm>
          <a:prstGeom prst="ellipse">
            <a:avLst/>
          </a:prstGeom>
          <a:solidFill>
            <a:srgbClr val="C47A5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64408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67328" y="2724912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Advice that isn't evidence-graded, ignores the cycle, and never says “see a doctor”.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71616" y="2788920"/>
            <a:ext cx="384048" cy="384048"/>
          </a:xfrm>
          <a:prstGeom prst="ellipse">
            <a:avLst/>
          </a:prstGeom>
          <a:solidFill>
            <a:srgbClr val="138A7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71616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74536" y="2724912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timeline + a coach that cites research, uses my numbers and escalates red flags.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solution: one calm dashboard + a coach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app · three personas: Fitness Coach, Nutritionist, Integrative Medicine</a:t>
            </a:r>
            <a:endParaRPr lang="en-US" sz="1400" dirty="0"/>
          </a:p>
        </p:txBody>
      </p:sp>
      <p:pic>
        <p:nvPicPr>
          <p:cNvPr id="4" name="Image 0" descr="/Users/damilya/Projects/n17_LLM/Projects/final-project/docs/deck/img/to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325880"/>
            <a:ext cx="4526280" cy="27340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60520" y="1325880"/>
            <a:ext cx="4526280" cy="2734056"/>
          </a:xfrm>
          <a:prstGeom prst="rect">
            <a:avLst/>
          </a:prstGeom>
          <a:ln w="9525">
            <a:solidFill>
              <a:srgbClr val="E6E1D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417320"/>
            <a:ext cx="256032" cy="256032"/>
          </a:xfrm>
          <a:prstGeom prst="ellipse">
            <a:avLst/>
          </a:prstGeom>
          <a:solidFill>
            <a:srgbClr val="138A7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41248" y="137160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timeline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Withings, Tanita, Apple Watch, Kinetix and Foodvisor on one chart, shaded by cycle phase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2130552"/>
            <a:ext cx="256032" cy="256032"/>
          </a:xfrm>
          <a:prstGeom prst="ellipse">
            <a:avLst/>
          </a:prstGeom>
          <a:solidFill>
            <a:srgbClr val="D86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41248" y="2084832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answers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research claim links to the passage, page and DOI it came from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57200" y="2843784"/>
            <a:ext cx="256032" cy="256032"/>
          </a:xfrm>
          <a:prstGeom prst="ellipse">
            <a:avLst/>
          </a:prstGeom>
          <a:solidFill>
            <a:srgbClr val="C47A5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41248" y="279806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first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red-flag symptoms → doctor referral, never coaching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57200" y="3557016"/>
            <a:ext cx="256032" cy="256032"/>
          </a:xfrm>
          <a:prstGeom prst="ellipse">
            <a:avLst/>
          </a:prstGeom>
          <a:solidFill>
            <a:srgbClr val="8A5FB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41248" y="3511296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 you approve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proposes, you approve or edit before anything is saved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160520" y="4114800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demo data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bloom-production-4f69.up.railway.app (demo data, password on request)</a:t>
            </a:r>
            <a:endParaRPr lang="en-US" sz="1400" dirty="0"/>
          </a:p>
        </p:txBody>
      </p:sp>
      <p:pic>
        <p:nvPicPr>
          <p:cNvPr id="4" name="Image 0" descr="/Users/damilya/Projects/n17_LLM/Projects/final-project/docs/deck/img/coach_answ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2606040" cy="287121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280160"/>
            <a:ext cx="2606040" cy="2871216"/>
          </a:xfrm>
          <a:prstGeom prst="rect">
            <a:avLst/>
          </a:prstGeom>
          <a:ln w="9525">
            <a:solidFill>
              <a:srgbClr val="E6E1D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42245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Cited, evidence-graded answer</a:t>
            </a:r>
            <a:endParaRPr lang="en-US" sz="1200" dirty="0"/>
          </a:p>
          <a:p>
            <a:pPr indent="0" marL="0">
              <a:buNone/>
            </a:pPr>
            <a:r>
              <a:rPr lang="en-US" sz="1050" i="1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“Should I avoid fasted morning workouts with PCOS?”</a:t>
            </a:r>
            <a:endParaRPr lang="en-US" sz="1200" dirty="0"/>
          </a:p>
        </p:txBody>
      </p:sp>
      <p:pic>
        <p:nvPicPr>
          <p:cNvPr id="7" name="Image 1" descr="/Users/damilya/Projects/n17_LLM/Projects/final-project/docs/deck/img/coach_goa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280160"/>
            <a:ext cx="2697480" cy="139903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246120" y="1280160"/>
            <a:ext cx="2697480" cy="1399032"/>
          </a:xfrm>
          <a:prstGeom prst="rect">
            <a:avLst/>
          </a:prstGeom>
          <a:ln w="9525">
            <a:solidFill>
              <a:srgbClr val="E6E1D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246120" y="27523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Goal proposal, human approval</a:t>
            </a:r>
            <a:endParaRPr lang="en-US" sz="1200" dirty="0"/>
          </a:p>
          <a:p>
            <a:pPr indent="0" marL="0">
              <a:buNone/>
            </a:pPr>
            <a:r>
              <a:rPr lang="en-US" sz="1050" i="1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“Set me a realistic body-fat goal for December”</a:t>
            </a:r>
            <a:endParaRPr lang="en-US" sz="1200" dirty="0"/>
          </a:p>
        </p:txBody>
      </p:sp>
      <p:pic>
        <p:nvPicPr>
          <p:cNvPr id="10" name="Image 2" descr="/Users/damilya/Projects/n17_LLM/Projects/final-project/docs/deck/img/coach_docto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2560320" cy="138988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126480" y="1280160"/>
            <a:ext cx="2560320" cy="1389888"/>
          </a:xfrm>
          <a:prstGeom prst="rect">
            <a:avLst/>
          </a:prstGeom>
          <a:ln w="9525">
            <a:solidFill>
              <a:srgbClr val="E6E1D8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126480" y="2743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Red flag → doctor referral</a:t>
            </a:r>
            <a:endParaRPr lang="en-US" sz="1200" dirty="0"/>
          </a:p>
          <a:p>
            <a:pPr indent="0" marL="0">
              <a:buNone/>
            </a:pPr>
            <a:r>
              <a:rPr lang="en-US" sz="1050" i="1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fainted after my workout this morning…”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3246120" y="342900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383280" y="3520440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demo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page: Withings OAuth sync · Apple Health ZIP · Mywellness ZIP · Foodvisor screenshot → vision extraction with consistency checks → confirm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box is replaceable by config; the data layer is deliberately shared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FBF5EA"/>
          </a:solidFill>
          <a:ln w="9525">
            <a:solidFill>
              <a:srgbClr val="FBF5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160020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frontend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1600200" cy="1783080"/>
          </a:xfrm>
          <a:prstGeom prst="roundRect">
            <a:avLst>
              <a:gd name="adj" fmla="val 6857"/>
            </a:avLst>
          </a:prstGeom>
          <a:solidFill>
            <a:srgbClr val="FBF5EA"/>
          </a:solidFill>
          <a:ln w="9525">
            <a:solidFill>
              <a:srgbClr val="FBF5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48840"/>
            <a:ext cx="160020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Withings OAuth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Health ZIP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Mywellness ZIP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Foodvisor screenshot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51760" y="1325880"/>
            <a:ext cx="1920240" cy="502920"/>
          </a:xfrm>
          <a:prstGeom prst="roundRect">
            <a:avLst>
              <a:gd name="adj" fmla="val 21818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51760" y="1325880"/>
            <a:ext cx="19202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SSE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2148840"/>
            <a:ext cx="1920240" cy="1783080"/>
          </a:xfrm>
          <a:prstGeom prst="roundRect">
            <a:avLst>
              <a:gd name="adj" fmla="val 6154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2148840"/>
            <a:ext cx="19202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nodes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· triage · Skill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· generate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loop · HITL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20640" y="1325880"/>
            <a:ext cx="1737360" cy="822960"/>
          </a:xfrm>
          <a:prstGeom prst="roundRect">
            <a:avLst>
              <a:gd name="adj" fmla="val 13333"/>
            </a:avLst>
          </a:prstGeom>
          <a:solidFill>
            <a:srgbClr val="FBF0EE"/>
          </a:solidFill>
          <a:ln w="9525">
            <a:solidFill>
              <a:srgbClr val="FBF0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0" y="1325880"/>
            <a:ext cx="173736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health-data MCP server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tools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20640" y="2331720"/>
            <a:ext cx="1737360" cy="685800"/>
          </a:xfrm>
          <a:prstGeom prst="roundRect">
            <a:avLst>
              <a:gd name="adj" fmla="val 16000"/>
            </a:avLst>
          </a:prstGeom>
          <a:solidFill>
            <a:srgbClr val="FBF0EE"/>
          </a:solidFill>
          <a:ln w="9525">
            <a:solidFill>
              <a:srgbClr val="FBF0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2331720"/>
            <a:ext cx="173736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RAG: Qdrant +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FlashRank rerank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120640" y="3200400"/>
            <a:ext cx="1737360" cy="731520"/>
          </a:xfrm>
          <a:prstGeom prst="roundRect">
            <a:avLst>
              <a:gd name="adj" fmla="val 15000"/>
            </a:avLst>
          </a:prstGeom>
          <a:solidFill>
            <a:srgbClr val="FBF0EE"/>
          </a:solidFill>
          <a:ln w="9525">
            <a:solidFill>
              <a:srgbClr val="FBF0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0" y="32004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 / 4.1-mini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fallback, budget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0" y="1325880"/>
            <a:ext cx="1371600" cy="822960"/>
          </a:xfrm>
          <a:prstGeom prst="roundRect">
            <a:avLst>
              <a:gd name="adj" fmla="val 13333"/>
            </a:avLst>
          </a:prstGeom>
          <a:solidFill>
            <a:srgbClr val="F2F0EC"/>
          </a:solidFill>
          <a:ln w="9525">
            <a:solidFill>
              <a:srgbClr val="F2F0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0" y="1325880"/>
            <a:ext cx="1371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data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233172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2F0EC"/>
          </a:solidFill>
          <a:ln w="9525">
            <a:solidFill>
              <a:srgbClr val="F2F0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0" y="2331720"/>
            <a:ext cx="137160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research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(PMC)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0" y="320040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F2F0EC"/>
          </a:solidFill>
          <a:ln w="9525">
            <a:solidFill>
              <a:srgbClr val="F2F0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0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LangSmith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· evals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057400" y="1572768"/>
            <a:ext cx="594360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611880" y="1828800"/>
            <a:ext cx="914" cy="320040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4572000" y="1737360"/>
            <a:ext cx="548640" cy="914400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4572000" y="2670048"/>
            <a:ext cx="548640" cy="73152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572000" y="3291840"/>
            <a:ext cx="548640" cy="274320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858000" y="1737360"/>
            <a:ext cx="457200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858000" y="2670048"/>
            <a:ext cx="457200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057400" y="3017520"/>
            <a:ext cx="594360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858000" y="3566160"/>
            <a:ext cx="457200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by choice: the dashboard and the MCP tools call the same queries.py, so the coach quotes exactly the numbers on the charts. Claude Desktop/Code can use the same MCP server.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agent: branches, a loop and a human in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StateGraph · checkpointed so an approval can resume in a later HTTP request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41248" cy="566928"/>
          </a:xfrm>
          <a:prstGeom prst="roundRect">
            <a:avLst>
              <a:gd name="adj" fmla="val 19355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841248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guard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298448" y="1700784"/>
            <a:ext cx="91440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389888" y="1417320"/>
            <a:ext cx="841248" cy="566928"/>
          </a:xfrm>
          <a:prstGeom prst="roundRect">
            <a:avLst>
              <a:gd name="adj" fmla="val 19355"/>
            </a:avLst>
          </a:prstGeom>
          <a:solidFill>
            <a:srgbClr val="FBF0EE"/>
          </a:solidFill>
          <a:ln w="9525">
            <a:solidFill>
              <a:srgbClr val="FBF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89888" y="1417320"/>
            <a:ext cx="841248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31136" y="1700784"/>
            <a:ext cx="91440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22576" y="1417320"/>
            <a:ext cx="841248" cy="566928"/>
          </a:xfrm>
          <a:prstGeom prst="roundRect">
            <a:avLst>
              <a:gd name="adj" fmla="val 19355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22576" y="1417320"/>
            <a:ext cx="841248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router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63824" y="1700784"/>
            <a:ext cx="91440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55264" y="1417320"/>
            <a:ext cx="841248" cy="566928"/>
          </a:xfrm>
          <a:prstGeom prst="roundRect">
            <a:avLst>
              <a:gd name="adj" fmla="val 19355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55264" y="1417320"/>
            <a:ext cx="841248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96512" y="1700784"/>
            <a:ext cx="91440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187952" y="1417320"/>
            <a:ext cx="841248" cy="566928"/>
          </a:xfrm>
          <a:prstGeom prst="roundRect">
            <a:avLst>
              <a:gd name="adj" fmla="val 19355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187952" y="1417320"/>
            <a:ext cx="841248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data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0" y="1700784"/>
            <a:ext cx="91440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20640" y="1417320"/>
            <a:ext cx="841248" cy="566928"/>
          </a:xfrm>
          <a:prstGeom prst="roundRect">
            <a:avLst>
              <a:gd name="adj" fmla="val 19355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20640" y="1417320"/>
            <a:ext cx="841248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61888" y="1700784"/>
            <a:ext cx="91440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053328" y="1417320"/>
            <a:ext cx="841248" cy="566928"/>
          </a:xfrm>
          <a:prstGeom prst="roundRect">
            <a:avLst>
              <a:gd name="adj" fmla="val 19355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53328" y="1417320"/>
            <a:ext cx="841248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894576" y="1700784"/>
            <a:ext cx="91440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986016" y="1417320"/>
            <a:ext cx="841248" cy="566928"/>
          </a:xfrm>
          <a:prstGeom prst="roundRect">
            <a:avLst>
              <a:gd name="adj" fmla="val 19355"/>
            </a:avLst>
          </a:prstGeom>
          <a:solidFill>
            <a:srgbClr val="FBF0EE"/>
          </a:solidFill>
          <a:ln w="9525">
            <a:solidFill>
              <a:srgbClr val="FBF0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986016" y="1417320"/>
            <a:ext cx="841248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check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827264" y="1700784"/>
            <a:ext cx="91440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918704" y="1417320"/>
            <a:ext cx="841248" cy="566928"/>
          </a:xfrm>
          <a:prstGeom prst="roundRect">
            <a:avLst>
              <a:gd name="adj" fmla="val 19355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18704" y="1417320"/>
            <a:ext cx="841248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guard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228600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9ECE5"/>
          </a:solidFill>
          <a:ln w="9525">
            <a:solidFill>
              <a:srgbClr val="F9ECE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2377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4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Branch: safety triage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flags (chest pain, fainting, no period &gt; 3 months, eating &lt; 1,000 kcal, medication changes) → doctor referral with 112 for emergencies. Off-topic → polite decline.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3246120" y="228600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BF0EE"/>
          </a:solidFill>
          <a:ln w="9525">
            <a:solidFill>
              <a:srgbClr val="FBF0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383280" y="2377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Loop: citation verification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cited sentence is checked against its passage; unsupported → targeted feedback → rewrite (max 2), then a visible “unverified” note.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035040" y="228600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BF5EA"/>
          </a:solidFill>
          <a:ln w="9525">
            <a:solidFill>
              <a:srgbClr val="FBF5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72200" y="2377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requests → structured SMART goal → interrupt() → Approve / Edit / Not now → saved through the MCP save_goal tool.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LangGraph: explicit, testable control flow (bounded loop + durable interrupt), tested with fake LLMs. CrewAI hides the flow behind roles; Parlant is policy-centric rather than pipeline-centric.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MCP server + own Skill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just functions and a longer prompt?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3291840"/>
          </a:xfrm>
          <a:prstGeom prst="roundRect">
            <a:avLst>
              <a:gd name="adj" fmla="val 3333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health-data MCP server · 9 tools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body-composition trend · latest metrics · strength progress (1RM) · cycle status · nutrition summary · workouts · weather · goals · save goal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1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MCP: </a:t>
            </a:r>
            <a:pPr indent="0" marL="0">
              <a:buNone/>
            </a:pPr>
            <a:r>
              <a:rPr lang="en-US" sz="11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tools serve the in-app agent and Claude Desktop/Code with zero glue; the tool schema is the contract the planner LLM reads. If the server is down the agent falls back to in-process tools.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325880"/>
            <a:ext cx="4023360" cy="3291840"/>
          </a:xfrm>
          <a:prstGeom prst="roundRect">
            <a:avLst>
              <a:gd name="adj" fmla="val 3333"/>
            </a:avLst>
          </a:prstGeom>
          <a:solidFill>
            <a:srgbClr val="FBF0EE"/>
          </a:solidFill>
          <a:ln w="9525">
            <a:solidFill>
              <a:srgbClr val="FBF0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46304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womens-health-evidence Skill (SKILL.md)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 (Strong / Moderate / Limited / Expert opinion), cycle and PCOS nuances, fasted-training honesty, red flags, citation rules.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1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Skill: </a:t>
            </a:r>
            <a:pPr indent="0" marL="0">
              <a:buNone/>
            </a:pPr>
            <a:r>
              <a:rPr lang="en-US" sz="11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domain policy in one file, loaded only when the question triggers it (keywords + triage flag), so ~1.5k tokens aren't paid on unrelated questions. Works in Claude Code too.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over research + vision for food logs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only as good as what's retrieved, and what's read from a screenshot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280160" cy="1188720"/>
          </a:xfrm>
          <a:prstGeom prst="roundRect">
            <a:avLst>
              <a:gd name="adj" fmla="val 9231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389888"/>
            <a:ext cx="11338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papers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PCOS guideline 2023, ISSN, WHO, meta-analyses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737360" y="1920240"/>
            <a:ext cx="118872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856232" y="1325880"/>
            <a:ext cx="1280160" cy="1188720"/>
          </a:xfrm>
          <a:prstGeom prst="roundRect">
            <a:avLst>
              <a:gd name="adj" fmla="val 9231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9384" y="1389888"/>
            <a:ext cx="11338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glyph-gap fix + JATS XML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36392" y="1920240"/>
            <a:ext cx="118872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55264" y="1325880"/>
            <a:ext cx="1280160" cy="1188720"/>
          </a:xfrm>
          <a:prstGeom prst="roundRect">
            <a:avLst>
              <a:gd name="adj" fmla="val 9231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28416" y="1389888"/>
            <a:ext cx="11338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455 chunks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section-aware, 450 tok, page kept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35424" y="1920240"/>
            <a:ext cx="118872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54296" y="1325880"/>
            <a:ext cx="1280160" cy="1188720"/>
          </a:xfrm>
          <a:prstGeom prst="roundRect">
            <a:avLst>
              <a:gd name="adj" fmla="val 9231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27448" y="1389888"/>
            <a:ext cx="11338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+ Qdrant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34456" y="1920240"/>
            <a:ext cx="118872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53328" y="1325880"/>
            <a:ext cx="1280160" cy="1188720"/>
          </a:xfrm>
          <a:prstGeom prst="roundRect">
            <a:avLst>
              <a:gd name="adj" fmla="val 9231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26480" y="1389888"/>
            <a:ext cx="11338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Multi-query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writes 1–3 sub-queries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33488" y="1920240"/>
            <a:ext cx="118872" cy="914"/>
          </a:xfrm>
          <a:prstGeom prst="line">
            <a:avLst/>
          </a:prstGeom>
          <a:noFill/>
          <a:ln w="15875">
            <a:solidFill>
              <a:srgbClr val="6F6A6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52360" y="1325880"/>
            <a:ext cx="1280160" cy="1188720"/>
          </a:xfrm>
          <a:prstGeom prst="roundRect">
            <a:avLst>
              <a:gd name="adj" fmla="val 9231"/>
            </a:avLst>
          </a:prstGeom>
          <a:solidFill>
            <a:srgbClr val="EEF3EF"/>
          </a:solidFill>
          <a:ln w="9525">
            <a:solidFill>
              <a:srgbClr val="EEF3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25512" y="1389888"/>
            <a:ext cx="11338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FlashRank per query → top 5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4023360" cy="1874520"/>
          </a:xfrm>
          <a:prstGeom prst="roundRect">
            <a:avLst>
              <a:gd name="adj" fmla="val 5854"/>
            </a:avLst>
          </a:prstGeom>
          <a:solidFill>
            <a:srgbClr val="FBF5EA"/>
          </a:solidFill>
          <a:ln w="9525">
            <a:solidFill>
              <a:srgbClr val="FBF5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283464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measuring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of 12 PDFs lost their spaces (15–43 % glued words) → rebuilt words from glyph positions. Compound questions (“fasted cardio + women + PCOS”) retrieved only PCOS papers → multi-query with per-facet round-robin.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663440" y="2743200"/>
            <a:ext cx="4023360" cy="1874520"/>
          </a:xfrm>
          <a:prstGeom prst="roundRect">
            <a:avLst>
              <a:gd name="adj" fmla="val 5854"/>
            </a:avLst>
          </a:prstGeom>
          <a:solidFill>
            <a:srgbClr val="FBF0EE"/>
          </a:solidFill>
          <a:ln w="9525">
            <a:solidFill>
              <a:srgbClr val="FBF0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00600" y="283464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4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Multimodal: Foodvisor has no API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screenshot is the only data channel → vision model with a strict schema → Atwater check (kcal ≈ 4C + 4P + 9F) → user confirms. Caught a real misread: “122 Cal over” (vs goal) read as intake; now computed from macros (1,589 kcal).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Evaluation: 43 golden examples, 7 metrics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Safety, groundedness and personal accuracy: the three ways a health coach fails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 by category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1598371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147011" y="1758963"/>
            <a:ext cx="1830629" cy="219685"/>
          </a:xfrm>
          <a:prstGeom prst="rect">
            <a:avLst/>
          </a:prstGeom>
          <a:solidFill>
            <a:srgbClr val="138A7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032504" y="1691640"/>
            <a:ext cx="457200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045970"/>
            <a:ext cx="1598371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47011" y="2113293"/>
            <a:ext cx="1176833" cy="219685"/>
          </a:xfrm>
          <a:prstGeom prst="rect">
            <a:avLst/>
          </a:prstGeom>
          <a:solidFill>
            <a:srgbClr val="138A7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78708" y="2045970"/>
            <a:ext cx="457200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400300"/>
            <a:ext cx="1598371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47011" y="2467623"/>
            <a:ext cx="1046074" cy="219685"/>
          </a:xfrm>
          <a:prstGeom prst="rect">
            <a:avLst/>
          </a:prstGeom>
          <a:solidFill>
            <a:srgbClr val="138A7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47949" y="2400300"/>
            <a:ext cx="457200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54630"/>
            <a:ext cx="1598371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miss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147011" y="2821953"/>
            <a:ext cx="523037" cy="219685"/>
          </a:xfrm>
          <a:prstGeom prst="rect">
            <a:avLst/>
          </a:prstGeom>
          <a:solidFill>
            <a:srgbClr val="138A7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24912" y="2754630"/>
            <a:ext cx="457200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108960"/>
            <a:ext cx="1598371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47011" y="3176283"/>
            <a:ext cx="261518" cy="219685"/>
          </a:xfrm>
          <a:prstGeom prst="rect">
            <a:avLst/>
          </a:prstGeom>
          <a:solidFill>
            <a:srgbClr val="138A7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63394" y="3108960"/>
            <a:ext cx="457200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463290"/>
            <a:ext cx="1598371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topic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47011" y="3530613"/>
            <a:ext cx="261518" cy="219685"/>
          </a:xfrm>
          <a:prstGeom prst="rect">
            <a:avLst/>
          </a:prstGeom>
          <a:solidFill>
            <a:srgbClr val="138A7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463394" y="3463290"/>
            <a:ext cx="457200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817620"/>
            <a:ext cx="1598371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smalltalk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147011" y="3884943"/>
            <a:ext cx="130759" cy="219685"/>
          </a:xfrm>
          <a:prstGeom prst="rect">
            <a:avLst/>
          </a:prstGeom>
          <a:solidFill>
            <a:srgbClr val="138A7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332634" y="3817620"/>
            <a:ext cx="457200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171950"/>
            <a:ext cx="1598371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147011" y="4239273"/>
            <a:ext cx="392278" cy="219685"/>
          </a:xfrm>
          <a:prstGeom prst="rect">
            <a:avLst/>
          </a:prstGeom>
          <a:solidFill>
            <a:srgbClr val="138A7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594153" y="4171950"/>
            <a:ext cx="457200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1737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route_correct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flags, near-misses, injections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retrieval_hit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paper in top-5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numeric_accuracy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personal number in answer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goal_proposed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HITL reached (or correctly not)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faithfulness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judge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claims supported by evidence/data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citation_precision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judge · custom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cited passage supports its sentence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key_point_recall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judge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says what the literature says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4754880" y="41148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latency p50/p95, cost/query, rewrite rate · evals run on a seeded demo DB, cache off · A/B arms = config options, no code changes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experiments decided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precision by configuration (LLM judge: gpt-4.1) · single runs unless noted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precision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190561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(judge v1)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454250" y="1725342"/>
            <a:ext cx="1758830" cy="259167"/>
          </a:xfrm>
          <a:prstGeom prst="rect">
            <a:avLst/>
          </a:prstGeom>
          <a:solidFill>
            <a:srgbClr val="7C9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267944" y="1645920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063931"/>
            <a:ext cx="190561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 writer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54250" y="2143354"/>
            <a:ext cx="1668634" cy="259167"/>
          </a:xfrm>
          <a:prstGeom prst="rect">
            <a:avLst/>
          </a:prstGeom>
          <a:solidFill>
            <a:srgbClr val="7C9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77747" y="2063931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481943"/>
            <a:ext cx="190561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reranker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454250" y="2561365"/>
            <a:ext cx="1578437" cy="259167"/>
          </a:xfrm>
          <a:prstGeom prst="rect">
            <a:avLst/>
          </a:prstGeom>
          <a:solidFill>
            <a:srgbClr val="D86A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087551" y="2481943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899954"/>
            <a:ext cx="190561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query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54250" y="2979376"/>
            <a:ext cx="1803928" cy="259167"/>
          </a:xfrm>
          <a:prstGeom prst="rect">
            <a:avLst/>
          </a:prstGeom>
          <a:solidFill>
            <a:srgbClr val="7C9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3042" y="2899954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317966"/>
            <a:ext cx="190561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v1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4250" y="3397388"/>
            <a:ext cx="1646085" cy="259167"/>
          </a:xfrm>
          <a:prstGeom prst="rect">
            <a:avLst/>
          </a:prstGeom>
          <a:solidFill>
            <a:srgbClr val="7C9A8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155198" y="3317966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735977"/>
            <a:ext cx="190561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citation loop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54250" y="3815399"/>
            <a:ext cx="1646085" cy="259167"/>
          </a:xfrm>
          <a:prstGeom prst="rect">
            <a:avLst/>
          </a:prstGeom>
          <a:solidFill>
            <a:srgbClr val="7C9A8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155198" y="3735977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153989"/>
            <a:ext cx="190561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(judge v2, mean of 3)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454250" y="4233411"/>
            <a:ext cx="2119616" cy="259167"/>
          </a:xfrm>
          <a:prstGeom prst="rect">
            <a:avLst/>
          </a:prstGeom>
          <a:solidFill>
            <a:srgbClr val="138A7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628729" y="4153989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123444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1783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routing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(red flags, injections)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237744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86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 → 94%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5440680" y="2926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precision (mean of 3 runs;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run-to-run noise ≈ ±5 pts)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52044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5FB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$0.0088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4069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cost per query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(red flags ≈ $0.0003)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request traced in LangSmith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trace per chat turn: graph nodes, LLM calls, retriever and MCP tools, tagged by persona and eval run</a:t>
            </a:r>
            <a:endParaRPr lang="en-US" sz="1400" dirty="0"/>
          </a:p>
        </p:txBody>
      </p:sp>
      <p:pic>
        <p:nvPicPr>
          <p:cNvPr id="4" name="Image 0" descr="/Users/damilya/Projects/n17_LLM/Projects/final-project/docs/deck/img/langsmi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7091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280160"/>
            <a:ext cx="4709160" cy="3200400"/>
          </a:xfrm>
          <a:prstGeom prst="rect">
            <a:avLst/>
          </a:prstGeom>
          <a:ln w="9525">
            <a:solidFill>
              <a:srgbClr val="E6E1D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4526280"/>
            <a:ext cx="4709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LangSmith tracing project (1,293 traces in a day of evals and demos)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40680" y="1325880"/>
            <a:ext cx="237744" cy="237744"/>
          </a:xfrm>
          <a:prstGeom prst="ellipse">
            <a:avLst/>
          </a:prstGeom>
          <a:solidFill>
            <a:srgbClr val="138A7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806440" y="12801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trace to see triage → retrieve → generate → citation_check, with each rewrite of the loop as its own span.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40680" y="2423160"/>
            <a:ext cx="237744" cy="237744"/>
          </a:xfrm>
          <a:prstGeom prst="ellipse">
            <a:avLst/>
          </a:prstGeom>
          <a:solidFill>
            <a:srgbClr val="D86A2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806440" y="23774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and $ per LLM call; that's where the ≈ $0.009 per research answer comes from.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40680" y="3520440"/>
            <a:ext cx="237744" cy="237744"/>
          </a:xfrm>
          <a:prstGeom prst="ellipse">
            <a:avLst/>
          </a:prstGeom>
          <a:solidFill>
            <a:srgbClr val="8A5FB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06440" y="34747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eval config runs as a LangSmith experiment on the golden dataset (e.g. bloom-final), compared side by side.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broke on real data, and what I learned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data passed every test; my own exports didn't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69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35608"/>
            <a:ext cx="237744" cy="237744"/>
          </a:xfrm>
          <a:prstGeom prst="ellipse">
            <a:avLst/>
          </a:prstGeom>
          <a:solidFill>
            <a:srgbClr val="138A7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371600"/>
            <a:ext cx="3429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Timezones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Health stamped everything +05:00 (the phone's zone at export) → workouts 4 h off, dedupe failed. Now one HOME_TZ for all sources.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17720" y="1280160"/>
            <a:ext cx="4069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435608"/>
            <a:ext cx="237744" cy="237744"/>
          </a:xfrm>
          <a:prstGeom prst="ellipse">
            <a:avLst/>
          </a:prstGeom>
          <a:solidFill>
            <a:srgbClr val="D86A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120640" y="1371600"/>
            <a:ext cx="3429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event, 3 apps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Mywellness mirrors the Watch (66 walks) and Withings (220 readings); the Watch re-records gym visits (55). Cross-source dedupe after every import.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4069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551176"/>
            <a:ext cx="237744" cy="237744"/>
          </a:xfrm>
          <a:prstGeom prst="ellipse">
            <a:avLst/>
          </a:prstGeom>
          <a:solidFill>
            <a:srgbClr val="8A5FB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2487168"/>
            <a:ext cx="3429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drift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Newer iOS writes VaginalBleeding* instead of MenstrualFlow*: 0 of 202 cycle records imported until fixed.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17720" y="2395728"/>
            <a:ext cx="4069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2551176"/>
            <a:ext cx="237744" cy="237744"/>
          </a:xfrm>
          <a:prstGeom prst="ellipse">
            <a:avLst/>
          </a:prstGeom>
          <a:solidFill>
            <a:srgbClr val="C47A5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120640" y="2487168"/>
            <a:ext cx="3429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Lenient self-check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in-graph citation judge passed 95 % of answers; the offline eval found 22 % unsupported citations → per-claim judge.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511296"/>
            <a:ext cx="4069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666744"/>
            <a:ext cx="237744" cy="237744"/>
          </a:xfrm>
          <a:prstGeom prst="ellipse">
            <a:avLst/>
          </a:prstGeom>
          <a:solidFill>
            <a:srgbClr val="7C9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3602736"/>
            <a:ext cx="3429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Over-eager goals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should I adjust training this week?” triggered goal approval → stricter triage + a negative golden example.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617720" y="3511296"/>
            <a:ext cx="4069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6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3666744"/>
            <a:ext cx="237744" cy="237744"/>
          </a:xfrm>
          <a:prstGeom prst="ellipse">
            <a:avLst/>
          </a:prstGeom>
          <a:solidFill>
            <a:srgbClr val="D8A7A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120640" y="3602736"/>
            <a:ext cx="3429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≠ popular belief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“Fasted training is bad for women” is not settled in the literature; the Skill makes the coach say so.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26350" y="365760"/>
            <a:ext cx="347472" cy="347472"/>
          </a:xfrm>
          <a:prstGeom prst="ellipse">
            <a:avLst/>
          </a:prstGeom>
          <a:solidFill>
            <a:srgbClr val="D8A7A0">
              <a:alpha val="9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35240" y="643738"/>
            <a:ext cx="347472" cy="347472"/>
          </a:xfrm>
          <a:prstGeom prst="ellipse">
            <a:avLst/>
          </a:prstGeom>
          <a:solidFill>
            <a:srgbClr val="7C9A82">
              <a:alpha val="9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017459" y="643738"/>
            <a:ext cx="347472" cy="347472"/>
          </a:xfrm>
          <a:prstGeom prst="ellipse">
            <a:avLst/>
          </a:prstGeom>
          <a:solidFill>
            <a:srgbClr val="E3C9A0">
              <a:alpha val="9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2B3A32"/>
          </a:solidFill>
          <a:ln w="9525">
            <a:solidFill>
              <a:srgbClr val="2B3A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325880"/>
            <a:ext cx="2286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3C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routing 100 % on the golden set · cited, evidence-graded answers · real data from 4 sources in one timeline · goals only with approval · deployed behind a password on Railway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64408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2B3A32"/>
          </a:solidFill>
          <a:ln w="9525">
            <a:solidFill>
              <a:srgbClr val="2B3A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7288" y="1325880"/>
            <a:ext cx="2286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3C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I chose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over latency (citation loop, gpt-4.1 writer) · calendar-based cycle phases flagged low-confidence instead of guessing · local SQLite for privacy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71616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2B3A32"/>
          </a:solidFill>
          <a:ln w="9525">
            <a:solidFill>
              <a:srgbClr val="2B3A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54496" y="1325880"/>
            <a:ext cx="2286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3C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red-flag cases (indirect, multilingual) · real users with PCOS · wearable temperature/LH for ovulation · per-user accounts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· Questions?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Bloom — cycle-aware, evidence-based health coach</dc:title>
  <dc:subject>PptxGenJS Presentation</dc:subject>
  <dc:creator>Damilya</dc:creator>
  <cp:lastModifiedBy>Damilya</cp:lastModifiedBy>
  <cp:revision>1</cp:revision>
  <dcterms:created xsi:type="dcterms:W3CDTF">2026-09-25T18:29:19Z</dcterms:created>
  <dcterms:modified xsi:type="dcterms:W3CDTF">2026-09-25T18:29:19Z</dcterms:modified>
</cp:coreProperties>
</file>